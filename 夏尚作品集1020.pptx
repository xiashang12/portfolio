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8" r:id="rId5"/>
    <p:sldId id="261" r:id="rId6"/>
    <p:sldId id="271" r:id="rId7"/>
    <p:sldId id="260" r:id="rId8"/>
    <p:sldId id="263" r:id="rId9"/>
    <p:sldId id="264" r:id="rId10"/>
    <p:sldId id="265" r:id="rId11"/>
    <p:sldId id="275" r:id="rId12"/>
    <p:sldId id="267" r:id="rId13"/>
    <p:sldId id="266" r:id="rId14"/>
    <p:sldId id="268" r:id="rId15"/>
    <p:sldId id="269" r:id="rId16"/>
    <p:sldId id="280" r:id="rId17"/>
    <p:sldId id="281" r:id="rId18"/>
    <p:sldId id="290" r:id="rId19"/>
    <p:sldId id="287" r:id="rId20"/>
    <p:sldId id="288" r:id="rId21"/>
    <p:sldId id="289" r:id="rId22"/>
    <p:sldId id="282" r:id="rId23"/>
    <p:sldId id="283" r:id="rId24"/>
    <p:sldId id="285" r:id="rId25"/>
    <p:sldId id="286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6470"/>
    <a:srgbClr val="904141"/>
    <a:srgbClr val="A05157"/>
    <a:srgbClr val="9C0840"/>
    <a:srgbClr val="28303A"/>
    <a:srgbClr val="406523"/>
    <a:srgbClr val="0B5FD1"/>
    <a:srgbClr val="0077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176" y="9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jpeg"/><Relationship Id="rId8" Type="http://schemas.openxmlformats.org/officeDocument/2006/relationships/image" Target="../media/image35.png"/><Relationship Id="rId7" Type="http://schemas.openxmlformats.org/officeDocument/2006/relationships/image" Target="../media/image34.jpeg"/><Relationship Id="rId6" Type="http://schemas.openxmlformats.org/officeDocument/2006/relationships/image" Target="../media/image33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43.jpeg"/><Relationship Id="rId15" Type="http://schemas.openxmlformats.org/officeDocument/2006/relationships/image" Target="../media/image42.jpeg"/><Relationship Id="rId14" Type="http://schemas.openxmlformats.org/officeDocument/2006/relationships/image" Target="../media/image41.jpeg"/><Relationship Id="rId13" Type="http://schemas.openxmlformats.org/officeDocument/2006/relationships/image" Target="../media/image40.png"/><Relationship Id="rId12" Type="http://schemas.openxmlformats.org/officeDocument/2006/relationships/image" Target="../media/image39.png"/><Relationship Id="rId11" Type="http://schemas.openxmlformats.org/officeDocument/2006/relationships/image" Target="../media/image38.png"/><Relationship Id="rId10" Type="http://schemas.openxmlformats.org/officeDocument/2006/relationships/image" Target="../media/image37.png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microsoft.com/office/2007/relationships/media" Target="../media/media4.mp4"/><Relationship Id="rId4" Type="http://schemas.openxmlformats.org/officeDocument/2006/relationships/video" Target="NULL" TargetMode="External"/><Relationship Id="rId3" Type="http://schemas.openxmlformats.org/officeDocument/2006/relationships/image" Target="../media/image47.png"/><Relationship Id="rId2" Type="http://schemas.microsoft.com/office/2007/relationships/media" Target="../media/media3.mp4"/><Relationship Id="rId1" Type="http://schemas.openxmlformats.org/officeDocument/2006/relationships/video" Target="../media/media3.mp4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microsoft.com/office/2007/relationships/media" Target="../media/media7.mp4"/><Relationship Id="rId7" Type="http://schemas.openxmlformats.org/officeDocument/2006/relationships/video" Target="../media/media7.mp4"/><Relationship Id="rId6" Type="http://schemas.openxmlformats.org/officeDocument/2006/relationships/image" Target="../media/image50.png"/><Relationship Id="rId5" Type="http://schemas.microsoft.com/office/2007/relationships/media" Target="../media/media6.mp4"/><Relationship Id="rId4" Type="http://schemas.openxmlformats.org/officeDocument/2006/relationships/video" Target="../media/media6.mp4"/><Relationship Id="rId3" Type="http://schemas.openxmlformats.org/officeDocument/2006/relationships/image" Target="../media/image49.png"/><Relationship Id="rId2" Type="http://schemas.microsoft.com/office/2007/relationships/media" Target="../media/media5.mp4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52.png"/><Relationship Id="rId11" Type="http://schemas.microsoft.com/office/2007/relationships/media" Target="../media/media8.mp4"/><Relationship Id="rId10" Type="http://schemas.openxmlformats.org/officeDocument/2006/relationships/video" Target="../media/media8.mp4"/><Relationship Id="rId1" Type="http://schemas.openxmlformats.org/officeDocument/2006/relationships/video" Target="../media/media5.mp4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microsoft.com/office/2007/relationships/media" Target="../media/media10.mp4"/><Relationship Id="rId4" Type="http://schemas.openxmlformats.org/officeDocument/2006/relationships/video" Target="../media/media10.mp4"/><Relationship Id="rId3" Type="http://schemas.openxmlformats.org/officeDocument/2006/relationships/image" Target="../media/image53.png"/><Relationship Id="rId2" Type="http://schemas.microsoft.com/office/2007/relationships/media" Target="../media/media9.mp4"/><Relationship Id="rId1" Type="http://schemas.openxmlformats.org/officeDocument/2006/relationships/video" Target="../media/media9.mp4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5.png"/><Relationship Id="rId2" Type="http://schemas.microsoft.com/office/2007/relationships/media" Target="../media/media11.mp4"/><Relationship Id="rId1" Type="http://schemas.openxmlformats.org/officeDocument/2006/relationships/video" Target="../media/media11.mp4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4.png"/><Relationship Id="rId2" Type="http://schemas.microsoft.com/office/2007/relationships/media" Target="../media/media12.mp4"/><Relationship Id="rId1" Type="http://schemas.openxmlformats.org/officeDocument/2006/relationships/video" Target="../media/media12.mp4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5.png"/><Relationship Id="rId2" Type="http://schemas.microsoft.com/office/2007/relationships/media" Target="../media/media13.mp4"/><Relationship Id="rId1" Type="http://schemas.openxmlformats.org/officeDocument/2006/relationships/video" Target="../media/media13.mp4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6.png"/><Relationship Id="rId2" Type="http://schemas.microsoft.com/office/2007/relationships/media" Target="../media/media14.mp4"/><Relationship Id="rId1" Type="http://schemas.openxmlformats.org/officeDocument/2006/relationships/video" Target="../media/media14.mp4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microsoft.com/office/2007/relationships/media" Target="../media/media16.mp4"/><Relationship Id="rId4" Type="http://schemas.openxmlformats.org/officeDocument/2006/relationships/video" Target="../media/media16.mp4"/><Relationship Id="rId3" Type="http://schemas.openxmlformats.org/officeDocument/2006/relationships/image" Target="../media/image67.png"/><Relationship Id="rId2" Type="http://schemas.microsoft.com/office/2007/relationships/media" Target="../media/media15.mp4"/><Relationship Id="rId1" Type="http://schemas.openxmlformats.org/officeDocument/2006/relationships/video" Target="../media/media15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b="60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35" y="635"/>
            <a:ext cx="12191365" cy="6857365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alpha val="0"/>
                </a:schemeClr>
              </a:gs>
              <a:gs pos="100000">
                <a:schemeClr val="tx1">
                  <a:alpha val="73000"/>
                  <a:lumMod val="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19150" y="5234305"/>
            <a:ext cx="8705215" cy="10109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车载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3DHMI </a:t>
            </a:r>
            <a:r>
              <a:rPr lang="zh-CN" altLang="en-US" sz="2800" b="1" i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渲染开发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800" b="1" i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ClearCoat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平台化开发和相关场景特效制作</a:t>
            </a:r>
            <a:endParaRPr lang="zh-CN" altLang="en-US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" name="平行四边形 37"/>
          <p:cNvSpPr/>
          <p:nvPr/>
        </p:nvSpPr>
        <p:spPr>
          <a:xfrm>
            <a:off x="2235200" y="5281295"/>
            <a:ext cx="4289425" cy="883920"/>
          </a:xfrm>
          <a:prstGeom prst="parallelogram">
            <a:avLst>
              <a:gd name="adj" fmla="val 54454"/>
            </a:avLst>
          </a:prstGeom>
          <a:solidFill>
            <a:schemeClr val="accent1">
              <a:lumMod val="75000"/>
              <a:alpha val="48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19150" y="414655"/>
            <a:ext cx="26282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24604" b="20488"/>
          <a:stretch>
            <a:fillRect/>
          </a:stretch>
        </p:blipFill>
        <p:spPr>
          <a:xfrm>
            <a:off x="6871970" y="1327150"/>
            <a:ext cx="4832350" cy="14490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" y="1316990"/>
            <a:ext cx="6221095" cy="3079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34308" r="28318"/>
          <a:stretch>
            <a:fillRect/>
          </a:stretch>
        </p:blipFill>
        <p:spPr>
          <a:xfrm>
            <a:off x="6871970" y="2853055"/>
            <a:ext cx="4832350" cy="154368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584835" y="4133215"/>
            <a:ext cx="11119485" cy="27178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871970" y="4126230"/>
            <a:ext cx="4847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i="1">
                <a:solidFill>
                  <a:schemeClr val="bg1"/>
                </a:solidFill>
              </a:rPr>
              <a:t>Geely E8 </a:t>
            </a:r>
            <a:endParaRPr lang="en-US" b="1" i="1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655570" y="5256530"/>
            <a:ext cx="262826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Unity-ClearCoat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37325" y="5255895"/>
            <a:ext cx="262826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LookDev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126730" y="5256530"/>
            <a:ext cx="167068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打光插件开发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468360" y="5802630"/>
            <a:ext cx="262826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车模效果调参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130790" y="5253990"/>
            <a:ext cx="167132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相关特效开发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871970" y="2517140"/>
            <a:ext cx="4831715" cy="26543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871970" y="2472055"/>
            <a:ext cx="1755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i="1">
                <a:solidFill>
                  <a:schemeClr val="bg1"/>
                </a:solidFill>
              </a:rPr>
              <a:t>Lynk&amp;Co 900 </a:t>
            </a:r>
            <a:endParaRPr lang="en-US" b="1" i="1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4835" y="4133215"/>
            <a:ext cx="2112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solidFill>
                  <a:schemeClr val="bg1"/>
                </a:solidFill>
              </a:rPr>
              <a:t>Harmony Space 5.0 </a:t>
            </a:r>
            <a:endParaRPr lang="en-US" altLang="zh-CN" b="1" i="1">
              <a:solidFill>
                <a:schemeClr val="bg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360805" y="5802630"/>
            <a:ext cx="130873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3D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制作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836035" y="5802630"/>
            <a:ext cx="303593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ClearCoat Material 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制作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19150" y="5168265"/>
            <a:ext cx="2628265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2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T</a:t>
            </a:r>
            <a:endParaRPr lang="en-US" altLang="zh-CN" sz="2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lang="en-US" altLang="zh-CN" sz="2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1170305" y="5726430"/>
            <a:ext cx="10450195" cy="0"/>
          </a:xfrm>
          <a:prstGeom prst="straightConnector1">
            <a:avLst/>
          </a:prstGeom>
          <a:ln>
            <a:solidFill>
              <a:schemeClr val="bg1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H="1">
            <a:off x="2011045" y="5729605"/>
            <a:ext cx="97155" cy="186055"/>
          </a:xfrm>
          <a:prstGeom prst="straightConnector1">
            <a:avLst/>
          </a:prstGeom>
          <a:ln>
            <a:solidFill>
              <a:schemeClr val="bg1"/>
            </a:solidFill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5097145" y="5729605"/>
            <a:ext cx="97155" cy="186055"/>
          </a:xfrm>
          <a:prstGeom prst="straightConnector1">
            <a:avLst/>
          </a:prstGeom>
          <a:ln>
            <a:solidFill>
              <a:schemeClr val="bg1"/>
            </a:solidFill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H="1">
            <a:off x="9068435" y="5729605"/>
            <a:ext cx="97155" cy="186055"/>
          </a:xfrm>
          <a:prstGeom prst="straightConnector1">
            <a:avLst/>
          </a:prstGeom>
          <a:ln>
            <a:solidFill>
              <a:schemeClr val="bg1"/>
            </a:solidFill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H="1">
            <a:off x="3554095" y="5543550"/>
            <a:ext cx="97155" cy="186055"/>
          </a:xfrm>
          <a:prstGeom prst="straightConnector1">
            <a:avLst/>
          </a:prstGeom>
          <a:ln>
            <a:solidFill>
              <a:schemeClr val="bg1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H="1">
            <a:off x="7195820" y="5543550"/>
            <a:ext cx="97155" cy="186055"/>
          </a:xfrm>
          <a:prstGeom prst="straightConnector1">
            <a:avLst/>
          </a:prstGeom>
          <a:ln>
            <a:solidFill>
              <a:schemeClr val="bg1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H="1">
            <a:off x="8674100" y="5543550"/>
            <a:ext cx="97155" cy="186055"/>
          </a:xfrm>
          <a:prstGeom prst="straightConnector1">
            <a:avLst/>
          </a:prstGeom>
          <a:ln>
            <a:solidFill>
              <a:schemeClr val="bg1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H="1">
            <a:off x="10682605" y="5543550"/>
            <a:ext cx="97155" cy="186055"/>
          </a:xfrm>
          <a:prstGeom prst="straightConnector1">
            <a:avLst/>
          </a:prstGeom>
          <a:ln>
            <a:solidFill>
              <a:schemeClr val="bg1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平行四边形 40"/>
          <p:cNvSpPr/>
          <p:nvPr/>
        </p:nvSpPr>
        <p:spPr>
          <a:xfrm>
            <a:off x="6121400" y="5281295"/>
            <a:ext cx="4098925" cy="883920"/>
          </a:xfrm>
          <a:prstGeom prst="parallelogram">
            <a:avLst>
              <a:gd name="adj" fmla="val 54454"/>
            </a:avLst>
          </a:prstGeom>
          <a:solidFill>
            <a:schemeClr val="accent5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5" name="直接箭头连接符 44"/>
          <p:cNvCxnSpPr/>
          <p:nvPr/>
        </p:nvCxnSpPr>
        <p:spPr>
          <a:xfrm flipH="1">
            <a:off x="9759950" y="4989830"/>
            <a:ext cx="606425" cy="1160145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1795780" y="4783455"/>
            <a:ext cx="9652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模型制作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900045" y="4783455"/>
            <a:ext cx="13335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光照模型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定制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682105" y="4782185"/>
            <a:ext cx="13335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美术流程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0366375" y="4781550"/>
            <a:ext cx="13335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特效渲染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直接箭头连接符 50"/>
          <p:cNvCxnSpPr/>
          <p:nvPr/>
        </p:nvCxnSpPr>
        <p:spPr>
          <a:xfrm flipH="1">
            <a:off x="6079490" y="4989830"/>
            <a:ext cx="606425" cy="1160145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2293620" y="4989830"/>
            <a:ext cx="606425" cy="1160145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H="1">
            <a:off x="1211580" y="4989830"/>
            <a:ext cx="606425" cy="1160145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10月19日 (1)(1)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115570" y="0"/>
            <a:ext cx="12308205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19150" y="414655"/>
            <a:ext cx="8025130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车模制作和渲染</a:t>
            </a:r>
            <a:r>
              <a:rPr lang="en-US" altLang="zh-CN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76040" y="6566535"/>
            <a:ext cx="443992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（由于公司信息安全，作品集模型效果展示主要使用网络下载的小米</a:t>
            </a:r>
            <a:r>
              <a:rPr lang="en-US" altLang="zh-CN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SU7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4120" y="1790065"/>
            <a:ext cx="2705100" cy="250888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6520" y="1790065"/>
            <a:ext cx="3483610" cy="2508250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5024120" y="1790065"/>
            <a:ext cx="5012055" cy="2507615"/>
          </a:xfrm>
          <a:prstGeom prst="rect">
            <a:avLst/>
          </a:prstGeom>
          <a:gradFill>
            <a:gsLst>
              <a:gs pos="53000">
                <a:schemeClr val="accent1">
                  <a:lumMod val="0"/>
                  <a:alpha val="0"/>
                </a:schemeClr>
              </a:gs>
              <a:gs pos="100000">
                <a:schemeClr val="tx1">
                  <a:alpha val="100000"/>
                  <a:lumMod val="0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19150" y="414655"/>
            <a:ext cx="8025130" cy="970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ClearCoat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光照模型优化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024120" y="1790065"/>
            <a:ext cx="163576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</a:t>
            </a:r>
            <a:r>
              <a:rPr lang="zh-CN" altLang="en-US" sz="2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效果：</a:t>
            </a:r>
            <a:endParaRPr lang="zh-CN" altLang="en-US" sz="2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377825" y="2496185"/>
            <a:ext cx="7570470" cy="4202430"/>
            <a:chOff x="595" y="3448"/>
            <a:chExt cx="11922" cy="661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000000">
                    <a:alpha val="100000"/>
                  </a:srgbClr>
                </a:clrFrom>
                <a:clrTo>
                  <a:srgbClr val="000000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95" y="3448"/>
              <a:ext cx="11922" cy="6618"/>
            </a:xfrm>
            <a:prstGeom prst="rect">
              <a:avLst/>
            </a:prstGeom>
          </p:spPr>
        </p:pic>
        <p:pic>
          <p:nvPicPr>
            <p:cNvPr id="21" name="图片 20" descr="未标题-3"/>
            <p:cNvPicPr>
              <a:picLocks noChangeAspect="1"/>
            </p:cNvPicPr>
            <p:nvPr/>
          </p:nvPicPr>
          <p:blipFill>
            <a:blip r:embed="rId4"/>
            <a:srcRect l="25729" t="51862" r="68854" b="43086"/>
            <a:stretch>
              <a:fillRect/>
            </a:stretch>
          </p:blipFill>
          <p:spPr>
            <a:xfrm>
              <a:off x="3399" y="6377"/>
              <a:ext cx="964" cy="391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4925695" y="5208270"/>
            <a:ext cx="4824095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前舱盖平弧面积过大，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Rought = 0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时仍有较大光斑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925695" y="5539105"/>
            <a:ext cx="6440170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由上往下的面光打光时，前舱盖处聚集光亮太高，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Rought-&gt;0.5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时扩散白色严重导致灰白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24120" y="4356100"/>
            <a:ext cx="5535930" cy="890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问题背景：</a:t>
            </a:r>
            <a:endParaRPr lang="zh-CN" altLang="en-US" sz="2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ClearCoat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的问题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6" name="组合 15"/>
          <p:cNvGrpSpPr/>
          <p:nvPr/>
        </p:nvGrpSpPr>
        <p:grpSpPr>
          <a:xfrm>
            <a:off x="6350" y="2136140"/>
            <a:ext cx="7161530" cy="4083685"/>
            <a:chOff x="10" y="3064"/>
            <a:chExt cx="11278" cy="6431"/>
          </a:xfrm>
        </p:grpSpPr>
        <p:sp>
          <p:nvSpPr>
            <p:cNvPr id="15" name="任意多边形 14"/>
            <p:cNvSpPr/>
            <p:nvPr/>
          </p:nvSpPr>
          <p:spPr>
            <a:xfrm>
              <a:off x="7984" y="6524"/>
              <a:ext cx="2960" cy="970"/>
            </a:xfrm>
            <a:custGeom>
              <a:avLst/>
              <a:gdLst>
                <a:gd name="connisteX0" fmla="*/ 552450 w 1879600"/>
                <a:gd name="connsiteY0" fmla="*/ 0 h 615950"/>
                <a:gd name="connisteX1" fmla="*/ 1866900 w 1879600"/>
                <a:gd name="connsiteY1" fmla="*/ 133350 h 615950"/>
                <a:gd name="connisteX2" fmla="*/ 1879600 w 1879600"/>
                <a:gd name="connsiteY2" fmla="*/ 444500 h 615950"/>
                <a:gd name="connisteX3" fmla="*/ 1765300 w 1879600"/>
                <a:gd name="connsiteY3" fmla="*/ 552450 h 615950"/>
                <a:gd name="connisteX4" fmla="*/ 908050 w 1879600"/>
                <a:gd name="connsiteY4" fmla="*/ 577850 h 615950"/>
                <a:gd name="connisteX5" fmla="*/ 0 w 1879600"/>
                <a:gd name="connsiteY5" fmla="*/ 615950 h 615950"/>
                <a:gd name="connisteX6" fmla="*/ 209550 w 1879600"/>
                <a:gd name="connsiteY6" fmla="*/ 171450 h 6159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rect l="l" t="t" r="r" b="b"/>
              <a:pathLst>
                <a:path w="1879600" h="615950">
                  <a:moveTo>
                    <a:pt x="552450" y="0"/>
                  </a:moveTo>
                  <a:lnTo>
                    <a:pt x="1866900" y="133350"/>
                  </a:lnTo>
                  <a:lnTo>
                    <a:pt x="1879600" y="444500"/>
                  </a:lnTo>
                  <a:lnTo>
                    <a:pt x="1765300" y="552450"/>
                  </a:lnTo>
                  <a:lnTo>
                    <a:pt x="908050" y="577850"/>
                  </a:lnTo>
                  <a:lnTo>
                    <a:pt x="0" y="615950"/>
                  </a:lnTo>
                  <a:lnTo>
                    <a:pt x="209550" y="171450"/>
                  </a:lnTo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000000">
                    <a:alpha val="100000"/>
                  </a:srgbClr>
                </a:clrFrom>
                <a:clrTo>
                  <a:srgbClr val="000000">
                    <a:alpha val="100000"/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>
            <a:xfrm>
              <a:off x="10" y="3064"/>
              <a:ext cx="11278" cy="6431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819150" y="414655"/>
            <a:ext cx="5535930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ClearCoat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光照模型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定制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19150" y="1483360"/>
            <a:ext cx="553593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改良</a:t>
            </a:r>
            <a:r>
              <a:rPr lang="zh-CN" altLang="en-US" sz="2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</a:t>
            </a:r>
            <a:endParaRPr lang="zh-CN" altLang="en-US" sz="2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354445" y="1684655"/>
            <a:ext cx="5252085" cy="4083685"/>
          </a:xfrm>
          <a:prstGeom prst="roundRect">
            <a:avLst>
              <a:gd name="adj" fmla="val 5767"/>
            </a:avLst>
          </a:prstGeom>
          <a:solidFill>
            <a:srgbClr val="28303A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CarPaint_Two_Modifications"/>
          <p:cNvPicPr>
            <a:picLocks noChangeAspect="1"/>
          </p:cNvPicPr>
          <p:nvPr/>
        </p:nvPicPr>
        <p:blipFill>
          <a:blip r:embed="rId2"/>
          <a:srcRect l="52582" t="59588" r="22614" b="30273"/>
          <a:stretch>
            <a:fillRect/>
          </a:stretch>
        </p:blipFill>
        <p:spPr>
          <a:xfrm>
            <a:off x="6852285" y="1906905"/>
            <a:ext cx="4584700" cy="1640205"/>
          </a:xfrm>
          <a:prstGeom prst="rect">
            <a:avLst/>
          </a:prstGeom>
        </p:spPr>
      </p:pic>
      <p:pic>
        <p:nvPicPr>
          <p:cNvPr id="23" name="图片 22" descr="CarPaint_Two_Modifications"/>
          <p:cNvPicPr>
            <a:picLocks noChangeAspect="1"/>
          </p:cNvPicPr>
          <p:nvPr/>
        </p:nvPicPr>
        <p:blipFill>
          <a:blip r:embed="rId2"/>
          <a:srcRect l="3994" t="74313" r="73251" b="19963"/>
          <a:stretch>
            <a:fillRect/>
          </a:stretch>
        </p:blipFill>
        <p:spPr>
          <a:xfrm>
            <a:off x="6852285" y="3714750"/>
            <a:ext cx="4208145" cy="926465"/>
          </a:xfrm>
          <a:prstGeom prst="rect">
            <a:avLst/>
          </a:prstGeom>
        </p:spPr>
      </p:pic>
      <p:sp>
        <p:nvSpPr>
          <p:cNvPr id="24" name="椭圆 23"/>
          <p:cNvSpPr/>
          <p:nvPr/>
        </p:nvSpPr>
        <p:spPr>
          <a:xfrm>
            <a:off x="6686550" y="1859280"/>
            <a:ext cx="127000" cy="127000"/>
          </a:xfrm>
          <a:prstGeom prst="ellipse">
            <a:avLst/>
          </a:prstGeom>
          <a:solidFill>
            <a:srgbClr val="90414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6686550" y="4650740"/>
            <a:ext cx="127000" cy="127000"/>
          </a:xfrm>
          <a:prstGeom prst="ellipse">
            <a:avLst/>
          </a:prstGeom>
          <a:solidFill>
            <a:srgbClr val="90414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821170" y="1764665"/>
            <a:ext cx="3025775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30000"/>
              </a:lnSpc>
              <a:buNone/>
            </a:pPr>
            <a:r>
              <a:rPr lang="zh-CN" altLang="en-US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lang="en-US" altLang="zh-CN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BRDF.HLSL</a:t>
            </a:r>
            <a:r>
              <a:rPr lang="zh-CN" altLang="en-US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中的环境光</a:t>
            </a:r>
            <a:r>
              <a:rPr lang="en-US" altLang="zh-CN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BRDF</a:t>
            </a:r>
            <a:r>
              <a:rPr lang="zh-CN" altLang="en-US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拟合函数进行数值修改</a:t>
            </a:r>
            <a:endParaRPr lang="zh-CN" altLang="en-US" sz="900" b="1">
              <a:solidFill>
                <a:srgbClr val="A051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21170" y="4569460"/>
            <a:ext cx="4462780" cy="4502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30000"/>
              </a:lnSpc>
              <a:buNone/>
            </a:pPr>
            <a:r>
              <a:rPr lang="zh-CN" altLang="en-US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lang="en-US" altLang="zh-CN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BRDF.HLSL</a:t>
            </a:r>
            <a:r>
              <a:rPr lang="zh-CN" altLang="en-US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中的直射光部分的</a:t>
            </a:r>
            <a:r>
              <a:rPr lang="en-US" altLang="zh-CN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GGX</a:t>
            </a:r>
            <a:r>
              <a:rPr lang="zh-CN" altLang="en-US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高光光斑和</a:t>
            </a:r>
            <a:r>
              <a:rPr lang="en-US" altLang="zh-CN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HALF_MIN_SQRT/</a:t>
            </a:r>
            <a:r>
              <a:rPr lang="en-US" altLang="zh-CN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HALF_MIN </a:t>
            </a:r>
            <a:r>
              <a:rPr lang="zh-CN" altLang="en-US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值进行</a:t>
            </a:r>
            <a:r>
              <a:rPr lang="zh-CN" altLang="en-US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</a:t>
            </a:r>
            <a:endParaRPr lang="zh-CN" altLang="en-US" sz="900" b="1">
              <a:solidFill>
                <a:srgbClr val="A051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911340" y="5019675"/>
            <a:ext cx="6096000" cy="5886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900">
                <a:solidFill>
                  <a:srgbClr val="5C6470"/>
                </a:solidFill>
              </a:rPr>
              <a:t>原：</a:t>
            </a:r>
            <a:r>
              <a:rPr lang="en-US" altLang="zh-CN" sz="900">
                <a:solidFill>
                  <a:srgbClr val="5C6470"/>
                </a:solidFill>
              </a:rPr>
              <a:t>V-F=1/(LoH²·（a+0.5)）</a:t>
            </a:r>
            <a:r>
              <a:rPr lang="zh-CN" altLang="en-US" sz="900">
                <a:solidFill>
                  <a:srgbClr val="5C6470"/>
                </a:solidFill>
              </a:rPr>
              <a:t>移动端近似（</a:t>
            </a:r>
            <a:r>
              <a:rPr lang="en-US" altLang="zh-CN" sz="900">
                <a:solidFill>
                  <a:srgbClr val="5C6470"/>
                </a:solidFill>
              </a:rPr>
              <a:t>ARM 2015)</a:t>
            </a:r>
            <a:endParaRPr lang="en-US" altLang="zh-CN" sz="900">
              <a:solidFill>
                <a:srgbClr val="5C6470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900" b="1">
                <a:solidFill>
                  <a:srgbClr val="A05157"/>
                </a:solidFill>
              </a:rPr>
              <a:t>改：</a:t>
            </a:r>
            <a:r>
              <a:rPr lang="en-US" altLang="zh-CN" sz="900" b="1">
                <a:solidFill>
                  <a:srgbClr val="A05157"/>
                </a:solidFill>
              </a:rPr>
              <a:t>D_GGX·V_Smith·F_Schlick（</a:t>
            </a:r>
            <a:r>
              <a:rPr lang="zh-CN" altLang="en-US" sz="900" b="1">
                <a:solidFill>
                  <a:srgbClr val="A05157"/>
                </a:solidFill>
              </a:rPr>
              <a:t>与 </a:t>
            </a:r>
            <a:r>
              <a:rPr lang="en-US" altLang="zh-CN" sz="900" b="1">
                <a:solidFill>
                  <a:srgbClr val="A05157"/>
                </a:solidFill>
              </a:rPr>
              <a:t>UE </a:t>
            </a:r>
            <a:r>
              <a:rPr lang="zh-CN" altLang="en-US" sz="900" b="1">
                <a:solidFill>
                  <a:srgbClr val="A05157"/>
                </a:solidFill>
              </a:rPr>
              <a:t>同款)</a:t>
            </a:r>
            <a:endParaRPr lang="zh-CN" altLang="en-US" sz="900" b="1">
              <a:solidFill>
                <a:srgbClr val="A05157"/>
              </a:solidFill>
            </a:endParaRPr>
          </a:p>
          <a:p>
            <a:endParaRPr lang="zh-CN" altLang="en-US" sz="900" b="1">
              <a:solidFill>
                <a:srgbClr val="A0515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214735" cy="68573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95935" y="635"/>
            <a:ext cx="10718800" cy="6857365"/>
          </a:xfrm>
          <a:prstGeom prst="rect">
            <a:avLst/>
          </a:prstGeom>
          <a:gradFill>
            <a:gsLst>
              <a:gs pos="55000">
                <a:schemeClr val="accent1">
                  <a:lumMod val="0"/>
                  <a:alpha val="0"/>
                </a:schemeClr>
              </a:gs>
              <a:gs pos="0">
                <a:schemeClr val="tx1">
                  <a:alpha val="100000"/>
                  <a:lumMod val="0"/>
                </a:schemeClr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-635"/>
            <a:ext cx="10861675" cy="6857365"/>
          </a:xfrm>
          <a:prstGeom prst="rect">
            <a:avLst/>
          </a:prstGeom>
          <a:gradFill>
            <a:gsLst>
              <a:gs pos="53000">
                <a:schemeClr val="accent1">
                  <a:lumMod val="0"/>
                  <a:alpha val="0"/>
                </a:schemeClr>
              </a:gs>
              <a:gs pos="100000">
                <a:schemeClr val="tx1">
                  <a:alpha val="19000"/>
                  <a:lumMod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19150" y="414655"/>
            <a:ext cx="6946265" cy="1010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LookDev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统一软件平台光照、后处理、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7" name="图片 16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7245" y="635"/>
            <a:ext cx="37547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圆角矩形 16"/>
          <p:cNvSpPr/>
          <p:nvPr/>
        </p:nvSpPr>
        <p:spPr>
          <a:xfrm>
            <a:off x="4055745" y="4727575"/>
            <a:ext cx="7606030" cy="1454785"/>
          </a:xfrm>
          <a:prstGeom prst="roundRect">
            <a:avLst>
              <a:gd name="adj" fmla="val 5767"/>
            </a:avLst>
          </a:prstGeom>
          <a:solidFill>
            <a:schemeClr val="accent4">
              <a:alpha val="19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19150" y="414655"/>
            <a:ext cx="69462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LookDev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0" y="1295400"/>
            <a:ext cx="2861310" cy="50647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145" y="1096645"/>
            <a:ext cx="2761615" cy="15532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740" y="1165225"/>
            <a:ext cx="2763520" cy="14909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340" y="1165225"/>
            <a:ext cx="2885440" cy="15113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295" y="2649855"/>
            <a:ext cx="2443480" cy="186817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2575" y="2649855"/>
            <a:ext cx="2404745" cy="186245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5745" y="2649855"/>
            <a:ext cx="2444115" cy="186118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055745" y="4727575"/>
            <a:ext cx="7606030" cy="13703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选取车模渲染尝使用的打光方式：</a:t>
            </a: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真实世界</a:t>
            </a:r>
            <a:r>
              <a:rPr lang="en-US" altLang="zh-CN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顶棚高对比</a:t>
            </a:r>
            <a:r>
              <a:rPr lang="en-US" altLang="zh-CN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侧身高对比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IBL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效果对齐验证</a:t>
            </a:r>
            <a:b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最终通过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经纬投影采样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shader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Cubemap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 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HDR 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监测读回并通过</a:t>
            </a:r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GetPixel()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HDR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图的每个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RGBAHalf 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读回→遍历取最亮像素，实时显示线性亮度、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EV(log2)、RGB、uv 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位置，附 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 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预览图和采样间隔控制，并为下一步提供设计师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美术打光相应的数值规范和效果参考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71220" y="1242695"/>
            <a:ext cx="3001645" cy="990600"/>
          </a:xfrm>
          <a:prstGeom prst="roundRect">
            <a:avLst>
              <a:gd name="adj" fmla="val 10884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840740" y="3795395"/>
            <a:ext cx="3032760" cy="2386965"/>
          </a:xfrm>
          <a:prstGeom prst="roundRect">
            <a:avLst>
              <a:gd name="adj" fmla="val 5767"/>
            </a:avLst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r="13466"/>
          <a:stretch>
            <a:fillRect/>
          </a:stretch>
        </p:blipFill>
        <p:spPr>
          <a:xfrm>
            <a:off x="0" y="0"/>
            <a:ext cx="10197465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0861675" cy="6857365"/>
          </a:xfrm>
          <a:prstGeom prst="rect">
            <a:avLst/>
          </a:prstGeom>
          <a:gradFill>
            <a:gsLst>
              <a:gs pos="53000">
                <a:schemeClr val="accent1">
                  <a:lumMod val="0"/>
                  <a:alpha val="0"/>
                </a:schemeClr>
              </a:gs>
              <a:gs pos="100000">
                <a:schemeClr val="tx1">
                  <a:alpha val="50000"/>
                  <a:lumMod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19150" y="414655"/>
            <a:ext cx="6946265" cy="1010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打光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插件开发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辅助美术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引擎内制作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Cubemap 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规范美术流程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98465" y="635"/>
            <a:ext cx="4719320" cy="6857365"/>
          </a:xfrm>
          <a:prstGeom prst="rect">
            <a:avLst/>
          </a:prstGeom>
          <a:gradFill>
            <a:gsLst>
              <a:gs pos="55000">
                <a:schemeClr val="accent1">
                  <a:lumMod val="0"/>
                  <a:alpha val="0"/>
                </a:schemeClr>
              </a:gs>
              <a:gs pos="0">
                <a:schemeClr val="tx1">
                  <a:alpha val="100000"/>
                  <a:lumMod val="0"/>
                </a:schemeClr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未标题-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740" y="635"/>
            <a:ext cx="32232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19150" y="414655"/>
            <a:ext cx="69462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打光插件开发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1186815"/>
            <a:ext cx="2320290" cy="506095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833120" y="4487545"/>
            <a:ext cx="2449195" cy="1694815"/>
          </a:xfrm>
          <a:prstGeom prst="roundRect">
            <a:avLst>
              <a:gd name="adj" fmla="val 10884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802640" y="2360295"/>
            <a:ext cx="2474595" cy="1922780"/>
          </a:xfrm>
          <a:prstGeom prst="roundRect">
            <a:avLst>
              <a:gd name="adj" fmla="val 5767"/>
            </a:avLst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3710305" y="3086735"/>
            <a:ext cx="7741285" cy="3095625"/>
          </a:xfrm>
          <a:prstGeom prst="roundRect">
            <a:avLst>
              <a:gd name="adj" fmla="val 5767"/>
            </a:avLst>
          </a:prstGeom>
          <a:solidFill>
            <a:schemeClr val="accent4">
              <a:alpha val="19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771265" y="3176905"/>
            <a:ext cx="744410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buFont typeface="Wingdings" panose="05000000000000000000" charset="0"/>
              <a:buChar char="l"/>
            </a:pPr>
            <a:r>
              <a:rPr lang="zh-CN" altLang="en-US" sz="120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打光板资源制作包括两种：平面打光</a:t>
            </a:r>
            <a:r>
              <a:rPr lang="en-US" altLang="zh-CN" sz="120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20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地平线打光，同步制作各类灯光贴图供灯光师</a:t>
            </a:r>
            <a:r>
              <a:rPr lang="en-US" altLang="zh-CN" sz="120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20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设计师</a:t>
            </a:r>
            <a:r>
              <a:rPr lang="zh-CN" altLang="en-US" sz="120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</a:t>
            </a:r>
            <a:endParaRPr lang="zh-CN" altLang="en-US" sz="1200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l="22068" t="8984" r="15012" b="8635"/>
          <a:stretch>
            <a:fillRect/>
          </a:stretch>
        </p:blipFill>
        <p:spPr>
          <a:xfrm>
            <a:off x="3847465" y="1290320"/>
            <a:ext cx="1355725" cy="1360805"/>
          </a:xfrm>
          <a:prstGeom prst="ellipse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475" y="3566795"/>
            <a:ext cx="2457450" cy="24384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rcRect l="32322"/>
          <a:stretch>
            <a:fillRect/>
          </a:stretch>
        </p:blipFill>
        <p:spPr>
          <a:xfrm>
            <a:off x="6384925" y="3576320"/>
            <a:ext cx="1656715" cy="242887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041640" y="3706495"/>
            <a:ext cx="3217545" cy="239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以往美术</a:t>
            </a:r>
            <a:r>
              <a:rPr lang="en-US" altLang="zh-CN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设计师制作</a:t>
            </a:r>
            <a:r>
              <a:rPr lang="en-US" altLang="zh-CN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Cubemap</a:t>
            </a:r>
            <a:r>
              <a:rPr lang="zh-CN" altLang="en-US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需要在固定的打光软件</a:t>
            </a:r>
            <a:r>
              <a:rPr lang="en-US" altLang="zh-CN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插件里制作，再导入后还不确定效果一致</a:t>
            </a:r>
            <a:endParaRPr lang="zh-CN" altLang="en-US" sz="10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通过在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Unity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里内制作打光插件，所见即所得，美术可以直接查看开发效果</a:t>
            </a:r>
            <a:endParaRPr lang="zh-CN" altLang="en-US" sz="100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预制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LookDev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内的三种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Cubemap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，供初学者使用</a:t>
            </a:r>
            <a:endParaRPr lang="zh-CN" altLang="en-US" sz="100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提供打光板自定义位置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变换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亮度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形状的参数接口供使用</a:t>
            </a:r>
            <a:endParaRPr lang="zh-CN" altLang="en-US" sz="100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利用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ReflectionProbe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Runtime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反射来实时观测打光效果</a:t>
            </a:r>
            <a:endParaRPr lang="zh-CN" altLang="en-US" sz="100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打光完可以保存模板并烘焙出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Cubemap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</a:t>
            </a:r>
            <a:endParaRPr lang="zh-CN" altLang="en-US" sz="100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0390" y="1365885"/>
            <a:ext cx="1596390" cy="1210310"/>
          </a:xfrm>
          <a:prstGeom prst="roundRect">
            <a:avLst/>
          </a:prstGeom>
          <a:solidFill>
            <a:schemeClr val="bg1">
              <a:lumMod val="75000"/>
              <a:alpha val="19000"/>
            </a:schemeClr>
          </a:solidFill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7" name="加号 16"/>
          <p:cNvSpPr/>
          <p:nvPr/>
        </p:nvSpPr>
        <p:spPr>
          <a:xfrm>
            <a:off x="5236210" y="1808480"/>
            <a:ext cx="333375" cy="323850"/>
          </a:xfrm>
          <a:prstGeom prst="mathPlus">
            <a:avLst>
              <a:gd name="adj1" fmla="val 13725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等于号 17"/>
          <p:cNvSpPr/>
          <p:nvPr/>
        </p:nvSpPr>
        <p:spPr>
          <a:xfrm>
            <a:off x="7364730" y="1827530"/>
            <a:ext cx="398780" cy="288925"/>
          </a:xfrm>
          <a:prstGeom prst="mathEqual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0830" y="1365885"/>
            <a:ext cx="1600200" cy="1225550"/>
          </a:xfrm>
          <a:prstGeom prst="round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19150" y="414655"/>
            <a:ext cx="6946265" cy="1010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曲面建模质量检测</a:t>
            </a:r>
            <a:r>
              <a:rPr lang="en-US" altLang="zh-CN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Shader</a:t>
            </a:r>
            <a:endParaRPr lang="en-US" altLang="zh-CN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30000"/>
              </a:lnSpc>
            </a:pP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31875"/>
          <a:stretch>
            <a:fillRect/>
          </a:stretch>
        </p:blipFill>
        <p:spPr>
          <a:xfrm>
            <a:off x="0" y="1903730"/>
            <a:ext cx="8151495" cy="4100830"/>
          </a:xfrm>
          <a:prstGeom prst="rect">
            <a:avLst/>
          </a:prstGeom>
        </p:spPr>
      </p:pic>
      <p:pic>
        <p:nvPicPr>
          <p:cNvPr id="3" name="图片 2" descr="Demo7_SurfaceAnalysis_Algorithms"/>
          <p:cNvPicPr>
            <a:picLocks noChangeAspect="1"/>
          </p:cNvPicPr>
          <p:nvPr/>
        </p:nvPicPr>
        <p:blipFill>
          <a:blip r:embed="rId2"/>
          <a:srcRect l="3863" t="17120" r="51300" b="66194"/>
          <a:stretch>
            <a:fillRect/>
          </a:stretch>
        </p:blipFill>
        <p:spPr>
          <a:xfrm>
            <a:off x="7740015" y="1903730"/>
            <a:ext cx="4292600" cy="1637665"/>
          </a:xfrm>
          <a:prstGeom prst="rect">
            <a:avLst/>
          </a:prstGeom>
        </p:spPr>
      </p:pic>
      <p:pic>
        <p:nvPicPr>
          <p:cNvPr id="5" name="图片 4" descr="Demo7_SurfaceAnalysis_Algorithms"/>
          <p:cNvPicPr>
            <a:picLocks noChangeAspect="1"/>
          </p:cNvPicPr>
          <p:nvPr/>
        </p:nvPicPr>
        <p:blipFill>
          <a:blip r:embed="rId2"/>
          <a:srcRect l="51462" t="17046" r="3702" b="68556"/>
          <a:stretch>
            <a:fillRect/>
          </a:stretch>
        </p:blipFill>
        <p:spPr>
          <a:xfrm>
            <a:off x="7766050" y="3662680"/>
            <a:ext cx="4284980" cy="14109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312785" y="5073650"/>
            <a:ext cx="3593465" cy="9309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尝试在引擎中完成车模的设计</a:t>
            </a:r>
            <a:r>
              <a:rPr lang="en-US" altLang="zh-CN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美术制作</a:t>
            </a:r>
            <a:r>
              <a:rPr lang="en-US" altLang="zh-CN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评审</a:t>
            </a:r>
            <a:r>
              <a:rPr lang="en-US" altLang="zh-CN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通过引擎中直接进行曲率检测和斑马线检测，同前面的</a:t>
            </a:r>
            <a:r>
              <a:rPr lang="en-US" altLang="zh-CN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LookDev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、打光插件共同搭建美术人员的引擎工作流，而不需要依赖其他工业软件同时对齐最终落地效果</a:t>
            </a:r>
            <a:endParaRPr lang="zh-CN" altLang="en-US" sz="1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19150" y="414655"/>
            <a:ext cx="69462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实际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项目结果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21200" y="1436370"/>
            <a:ext cx="3175635" cy="17862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1436370"/>
            <a:ext cx="3331210" cy="17862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19150" y="3222625"/>
            <a:ext cx="102997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仪表</a:t>
            </a: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3D</a:t>
            </a:r>
            <a:endParaRPr lang="en-US" altLang="zh-CN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4521200" y="3222625"/>
            <a:ext cx="102997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ADS 3D</a:t>
            </a:r>
            <a:endParaRPr lang="en-US" altLang="zh-CN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7879715" y="3222625"/>
            <a:ext cx="102997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HMI 3D</a:t>
            </a:r>
            <a:endParaRPr lang="en-US" altLang="zh-CN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5" name="图片 14" descr="ff922d29d364f34df60513b7a9ffd2c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3795395"/>
            <a:ext cx="2131060" cy="1166495"/>
          </a:xfrm>
          <a:prstGeom prst="rect">
            <a:avLst/>
          </a:prstGeom>
        </p:spPr>
      </p:pic>
      <p:pic>
        <p:nvPicPr>
          <p:cNvPr id="16" name="图片 15" descr="26c2b1f62ae0302626f81fef43daacc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8725" y="5034915"/>
            <a:ext cx="2317115" cy="1308100"/>
          </a:xfrm>
          <a:prstGeom prst="rect">
            <a:avLst/>
          </a:prstGeom>
        </p:spPr>
      </p:pic>
      <p:pic>
        <p:nvPicPr>
          <p:cNvPr id="17" name="图片 16" descr="11c98fd2058c0601650d043c7a59648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8495" y="3795395"/>
            <a:ext cx="1962785" cy="1217930"/>
          </a:xfrm>
          <a:prstGeom prst="rect">
            <a:avLst/>
          </a:prstGeom>
        </p:spPr>
      </p:pic>
      <p:pic>
        <p:nvPicPr>
          <p:cNvPr id="18" name="图片 17" descr="694694cc9cfcbca78655310b1d24df0b"/>
          <p:cNvPicPr>
            <a:picLocks noChangeAspect="1"/>
          </p:cNvPicPr>
          <p:nvPr/>
        </p:nvPicPr>
        <p:blipFill>
          <a:blip r:embed="rId9"/>
          <a:srcRect l="25862" t="17277" r="25453" b="17277"/>
          <a:stretch>
            <a:fillRect/>
          </a:stretch>
        </p:blipFill>
        <p:spPr>
          <a:xfrm>
            <a:off x="5198745" y="3795395"/>
            <a:ext cx="2057400" cy="1225550"/>
          </a:xfrm>
          <a:prstGeom prst="rect">
            <a:avLst/>
          </a:prstGeom>
        </p:spPr>
      </p:pic>
      <p:pic>
        <p:nvPicPr>
          <p:cNvPr id="19" name="图片 18" descr="4ffdaaff720463ec241600ed9b19435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450" y="5013325"/>
            <a:ext cx="1822450" cy="1318895"/>
          </a:xfrm>
          <a:prstGeom prst="rect">
            <a:avLst/>
          </a:prstGeom>
        </p:spPr>
      </p:pic>
      <p:pic>
        <p:nvPicPr>
          <p:cNvPr id="20" name="图片 19" descr="22e4edae6ca6fed8968123ec64e095c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55900" y="5006975"/>
            <a:ext cx="2559050" cy="1344930"/>
          </a:xfrm>
          <a:prstGeom prst="rect">
            <a:avLst/>
          </a:prstGeom>
        </p:spPr>
      </p:pic>
      <p:pic>
        <p:nvPicPr>
          <p:cNvPr id="21" name="图片 20" descr="25d10421020443c0d27deae9ab1da87a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93610" y="3849370"/>
            <a:ext cx="1995805" cy="1172210"/>
          </a:xfrm>
          <a:prstGeom prst="rect">
            <a:avLst/>
          </a:prstGeom>
        </p:spPr>
      </p:pic>
      <p:pic>
        <p:nvPicPr>
          <p:cNvPr id="23" name="图片 22" descr="0299ae8187ab6d786d48c4ee8700d3c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61120" y="3818255"/>
            <a:ext cx="2155825" cy="1177290"/>
          </a:xfrm>
          <a:prstGeom prst="rect">
            <a:avLst/>
          </a:prstGeom>
        </p:spPr>
      </p:pic>
      <p:pic>
        <p:nvPicPr>
          <p:cNvPr id="24" name="图片 23" descr="33a0dc0c1f656b358241b5c1a6e2cb8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81620" y="1397635"/>
            <a:ext cx="3244215" cy="1824990"/>
          </a:xfrm>
          <a:prstGeom prst="rect">
            <a:avLst/>
          </a:prstGeom>
        </p:spPr>
      </p:pic>
      <p:pic>
        <p:nvPicPr>
          <p:cNvPr id="26" name="图片 25" descr="8fe48e7500b01b6594b53edc9c0eca13"/>
          <p:cNvPicPr>
            <a:picLocks noChangeAspect="1"/>
          </p:cNvPicPr>
          <p:nvPr/>
        </p:nvPicPr>
        <p:blipFill>
          <a:blip r:embed="rId15"/>
          <a:srcRect l="13294" t="30574" r="7044" b="46370"/>
          <a:stretch>
            <a:fillRect/>
          </a:stretch>
        </p:blipFill>
        <p:spPr>
          <a:xfrm>
            <a:off x="7256145" y="5006975"/>
            <a:ext cx="2058035" cy="1344930"/>
          </a:xfrm>
          <a:prstGeom prst="rect">
            <a:avLst/>
          </a:prstGeom>
        </p:spPr>
      </p:pic>
      <p:pic>
        <p:nvPicPr>
          <p:cNvPr id="27" name="图片 26" descr="4a1a705fbccc364fe970384fe96e8536"/>
          <p:cNvPicPr>
            <a:picLocks noChangeAspect="1"/>
          </p:cNvPicPr>
          <p:nvPr/>
        </p:nvPicPr>
        <p:blipFill>
          <a:blip r:embed="rId16"/>
          <a:srcRect t="37796" r="2395" b="18037"/>
          <a:stretch>
            <a:fillRect/>
          </a:stretch>
        </p:blipFill>
        <p:spPr>
          <a:xfrm>
            <a:off x="8910320" y="5026025"/>
            <a:ext cx="2206625" cy="13315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r="91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5935" y="635"/>
            <a:ext cx="11696065" cy="6857365"/>
          </a:xfrm>
          <a:prstGeom prst="rect">
            <a:avLst/>
          </a:prstGeom>
          <a:gradFill>
            <a:gsLst>
              <a:gs pos="55000">
                <a:schemeClr val="accent1">
                  <a:lumMod val="0"/>
                  <a:alpha val="0"/>
                </a:schemeClr>
              </a:gs>
              <a:gs pos="0">
                <a:schemeClr val="tx1">
                  <a:alpha val="100000"/>
                  <a:lumMod val="0"/>
                </a:schemeClr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-635"/>
            <a:ext cx="10861675" cy="6857365"/>
          </a:xfrm>
          <a:prstGeom prst="rect">
            <a:avLst/>
          </a:prstGeom>
          <a:gradFill>
            <a:gsLst>
              <a:gs pos="53000">
                <a:schemeClr val="accent1">
                  <a:lumMod val="0"/>
                  <a:alpha val="0"/>
                </a:schemeClr>
              </a:gs>
              <a:gs pos="100000">
                <a:schemeClr val="tx1">
                  <a:alpha val="71000"/>
                  <a:lumMod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19150" y="414655"/>
            <a:ext cx="6946265" cy="1010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技术拓展</a:t>
            </a:r>
            <a:r>
              <a:rPr lang="en-US" altLang="zh-CN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双抛物面映射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实时反射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移动端落地实时反射的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尝试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19150" y="414655"/>
            <a:ext cx="69462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技术拓展</a:t>
            </a:r>
            <a:r>
              <a:rPr lang="en-US" altLang="zh-CN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双抛物面映射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实时反射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2" name="a98ae2ca93def8ae2c0e5ca5669f86ae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19150" y="1408430"/>
            <a:ext cx="8121015" cy="4541520"/>
          </a:xfrm>
          <a:prstGeom prst="rect">
            <a:avLst/>
          </a:prstGeom>
        </p:spPr>
      </p:pic>
      <p:pic>
        <p:nvPicPr>
          <p:cNvPr id="8" name="图片 7" descr="DualParaboloidMap_Structure"/>
          <p:cNvPicPr>
            <a:picLocks noChangeAspect="1"/>
          </p:cNvPicPr>
          <p:nvPr/>
        </p:nvPicPr>
        <p:blipFill>
          <a:blip r:embed="rId4"/>
          <a:srcRect t="6046" b="12870"/>
          <a:stretch>
            <a:fillRect/>
          </a:stretch>
        </p:blipFill>
        <p:spPr>
          <a:xfrm>
            <a:off x="5916295" y="1264285"/>
            <a:ext cx="6105525" cy="49263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19150" y="414655"/>
            <a:ext cx="69462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3DHMI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特效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0bc3biaacaaapaadyvhrvjsvacwdaefaaaia.f10002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09955" y="1065530"/>
            <a:ext cx="7748905" cy="4359275"/>
          </a:xfrm>
          <a:prstGeom prst="rect">
            <a:avLst/>
          </a:prstGeom>
        </p:spPr>
      </p:pic>
      <p:pic>
        <p:nvPicPr>
          <p:cNvPr id="5" name="video172321898818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>
                  <p14:trim st="2783.000000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12495" y="4208780"/>
            <a:ext cx="7746365" cy="131000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55040" y="1065530"/>
            <a:ext cx="197866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UV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动画相关特效制作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5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433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35e19be8b3d67e74c31afd5980dbf483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51890" y="643890"/>
            <a:ext cx="4950460" cy="2785110"/>
          </a:xfrm>
          <a:prstGeom prst="rect">
            <a:avLst/>
          </a:prstGeom>
        </p:spPr>
      </p:pic>
      <p:pic>
        <p:nvPicPr>
          <p:cNvPr id="7" name="90513177c501002d8780063d03619dff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1890" y="3429000"/>
            <a:ext cx="4946650" cy="2783840"/>
          </a:xfrm>
          <a:prstGeom prst="rect">
            <a:avLst/>
          </a:prstGeom>
        </p:spPr>
      </p:pic>
      <p:pic>
        <p:nvPicPr>
          <p:cNvPr id="8" name="98a02912fd54dfe50f32fad1c20767b7">
            <a:hlinkClick r:id="" action="ppaction://media"/>
          </p:cNvPr>
          <p:cNvPicPr/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102350" y="643890"/>
            <a:ext cx="4949190" cy="2785110"/>
          </a:xfrm>
          <a:prstGeom prst="rect">
            <a:avLst/>
          </a:prstGeom>
        </p:spPr>
      </p:pic>
      <p:pic>
        <p:nvPicPr>
          <p:cNvPr id="9" name="fdb6309920d1a213375fb612b9b5fa0c">
            <a:hlinkClick r:id="" action="ppaction://media"/>
          </p:cNvPr>
          <p:cNvPicPr/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203315" y="3429000"/>
            <a:ext cx="4947920" cy="27838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19150" y="414655"/>
            <a:ext cx="69462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3DHMI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特效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760" y="1065530"/>
            <a:ext cx="197866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顶点动画相关特效制作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 fullScrn="0">
              <p:cMediaNode>
                <p:cTn id="8" fill="hold" display="1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 fullScrn="0">
              <p:cMediaNode>
                <p:cTn id="14" fill="hold" display="1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9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 fullScrn="0">
              <p:cMediaNode>
                <p:cTn id="20" fill="hold" display="1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25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10月19日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1383665" y="932815"/>
            <a:ext cx="7837170" cy="46177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19150" y="414655"/>
            <a:ext cx="32886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3DHMI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特效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760" y="1065530"/>
            <a:ext cx="197866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场景搭建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相关制作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4" name="10月19日(1)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85815" y="1967865"/>
            <a:ext cx="6290310" cy="3538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 fullScrn="0">
              <p:cMediaNode>
                <p:cTn id="8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3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10月19日 (1)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99490" y="1656080"/>
            <a:ext cx="7131050" cy="43586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19150" y="414655"/>
            <a:ext cx="32886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3D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赛车游戏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760" y="1065530"/>
            <a:ext cx="197866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场景特效和赛车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渲染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 mute="1"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703961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0" y="0"/>
            <a:ext cx="12191365" cy="6947535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alpha val="0"/>
                </a:schemeClr>
              </a:gs>
              <a:gs pos="100000">
                <a:schemeClr val="tx1">
                  <a:alpha val="61000"/>
                  <a:lumMod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819150" y="5234305"/>
            <a:ext cx="8705215" cy="10109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车载萌宠助手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800" b="1" i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渲染开发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800" b="1" i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萌宠渲染效果开发和</a:t>
            </a:r>
            <a:r>
              <a:rPr lang="en-US" altLang="zh-CN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辅助美术制作</a:t>
            </a:r>
            <a:endParaRPr lang="zh-CN" altLang="en-US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82" name="直接箭头连接符 81"/>
          <p:cNvCxnSpPr/>
          <p:nvPr/>
        </p:nvCxnSpPr>
        <p:spPr>
          <a:xfrm>
            <a:off x="3855720" y="2051685"/>
            <a:ext cx="6091555" cy="0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819150" y="414655"/>
            <a:ext cx="69462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文生图生</a:t>
            </a:r>
            <a:r>
              <a:rPr lang="en-US" altLang="zh-CN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3D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流程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搭建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 descr="otter_left_00005_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3150" y="1673860"/>
            <a:ext cx="1005205" cy="1471295"/>
          </a:xfrm>
          <a:prstGeom prst="rect">
            <a:avLst/>
          </a:prstGeom>
        </p:spPr>
      </p:pic>
      <p:pic>
        <p:nvPicPr>
          <p:cNvPr id="4" name="图片 3" descr="otrset_o04_00001_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295" y="1673860"/>
            <a:ext cx="1007110" cy="1472565"/>
          </a:xfrm>
          <a:prstGeom prst="rect">
            <a:avLst/>
          </a:prstGeom>
        </p:spPr>
      </p:pic>
      <p:pic>
        <p:nvPicPr>
          <p:cNvPr id="5" name="图片 4" descr="otrset_o03_00001_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325" y="1673860"/>
            <a:ext cx="1004570" cy="14693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0295" y="1673860"/>
            <a:ext cx="1004570" cy="1442720"/>
          </a:xfrm>
          <a:prstGeom prst="rect">
            <a:avLst/>
          </a:prstGeom>
        </p:spPr>
      </p:pic>
      <p:grpSp>
        <p:nvGrpSpPr>
          <p:cNvPr id="48" name="组合 47"/>
          <p:cNvGrpSpPr/>
          <p:nvPr/>
        </p:nvGrpSpPr>
        <p:grpSpPr>
          <a:xfrm>
            <a:off x="1036320" y="1725295"/>
            <a:ext cx="2819400" cy="808990"/>
            <a:chOff x="1633" y="3773"/>
            <a:chExt cx="4440" cy="1274"/>
          </a:xfrm>
        </p:grpSpPr>
        <p:sp>
          <p:nvSpPr>
            <p:cNvPr id="46" name="圆角矩形 45"/>
            <p:cNvSpPr/>
            <p:nvPr/>
          </p:nvSpPr>
          <p:spPr>
            <a:xfrm>
              <a:off x="1633" y="3773"/>
              <a:ext cx="4440" cy="1027"/>
            </a:xfrm>
            <a:prstGeom prst="roundRect">
              <a:avLst>
                <a:gd name="adj" fmla="val 9704"/>
              </a:avLst>
            </a:prstGeom>
            <a:noFill/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2782" y="4400"/>
              <a:ext cx="1928" cy="64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p>
              <a:pPr>
                <a:lnSpc>
                  <a:spcPct val="130000"/>
                </a:lnSpc>
              </a:pPr>
              <a:r>
                <a:rPr lang="zh-CN" altLang="en-US" sz="1600" b="1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大模型底座</a:t>
              </a:r>
              <a:endParaRPr lang="zh-CN" altLang="en-US" sz="16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1036955" y="3562350"/>
            <a:ext cx="4636770" cy="1758843"/>
            <a:chOff x="1633" y="2820"/>
            <a:chExt cx="4440" cy="1456"/>
          </a:xfrm>
        </p:grpSpPr>
        <p:sp>
          <p:nvSpPr>
            <p:cNvPr id="57" name="圆角矩形 56"/>
            <p:cNvSpPr/>
            <p:nvPr/>
          </p:nvSpPr>
          <p:spPr>
            <a:xfrm>
              <a:off x="1633" y="2820"/>
              <a:ext cx="4440" cy="1300"/>
            </a:xfrm>
            <a:prstGeom prst="roundRect">
              <a:avLst>
                <a:gd name="adj" fmla="val 9704"/>
              </a:avLst>
            </a:prstGeom>
            <a:noFill/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3239" y="3936"/>
              <a:ext cx="1641" cy="34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p>
              <a:pPr>
                <a:lnSpc>
                  <a:spcPct val="130000"/>
                </a:lnSpc>
              </a:pPr>
              <a:r>
                <a:rPr lang="zh-CN" altLang="en-US" sz="1600" b="1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小模型微调</a:t>
              </a:r>
              <a:r>
                <a:rPr lang="zh-CN" altLang="en-US" sz="1600" b="1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定制</a:t>
              </a:r>
              <a:endParaRPr lang="zh-CN" altLang="en-US" sz="16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6362065" y="4580255"/>
            <a:ext cx="2420620" cy="741460"/>
            <a:chOff x="270" y="3774"/>
            <a:chExt cx="4440" cy="1403"/>
          </a:xfrm>
        </p:grpSpPr>
        <p:sp>
          <p:nvSpPr>
            <p:cNvPr id="60" name="圆角矩形 59"/>
            <p:cNvSpPr/>
            <p:nvPr/>
          </p:nvSpPr>
          <p:spPr>
            <a:xfrm>
              <a:off x="270" y="3774"/>
              <a:ext cx="4440" cy="1026"/>
            </a:xfrm>
            <a:prstGeom prst="roundRect">
              <a:avLst>
                <a:gd name="adj" fmla="val 9704"/>
              </a:avLst>
            </a:prstGeom>
            <a:noFill/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209" y="4400"/>
              <a:ext cx="2244" cy="777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p>
              <a:pPr>
                <a:lnSpc>
                  <a:spcPct val="130000"/>
                </a:lnSpc>
              </a:pPr>
              <a:r>
                <a:rPr lang="zh-CN" altLang="en-US" sz="1600" b="1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多视图</a:t>
              </a:r>
              <a:r>
                <a:rPr lang="zh-CN" altLang="en-US" sz="1600" b="1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输出</a:t>
              </a:r>
              <a:endParaRPr lang="zh-CN" altLang="en-US" sz="16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5989955" y="3562350"/>
            <a:ext cx="1776095" cy="913069"/>
            <a:chOff x="1633" y="2820"/>
            <a:chExt cx="4440" cy="2383"/>
          </a:xfrm>
        </p:grpSpPr>
        <p:sp>
          <p:nvSpPr>
            <p:cNvPr id="64" name="圆角矩形 63"/>
            <p:cNvSpPr/>
            <p:nvPr/>
          </p:nvSpPr>
          <p:spPr>
            <a:xfrm>
              <a:off x="1633" y="2820"/>
              <a:ext cx="4440" cy="1980"/>
            </a:xfrm>
            <a:prstGeom prst="roundRect">
              <a:avLst>
                <a:gd name="adj" fmla="val 9704"/>
              </a:avLst>
            </a:prstGeom>
            <a:noFill/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2227" y="4131"/>
              <a:ext cx="3061" cy="107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p>
              <a:pPr>
                <a:lnSpc>
                  <a:spcPct val="130000"/>
                </a:lnSpc>
              </a:pPr>
              <a:r>
                <a:rPr lang="zh-CN" altLang="en-US" sz="1600" b="1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一致性</a:t>
              </a:r>
              <a:r>
                <a:rPr lang="zh-CN" altLang="en-US" sz="1600" b="1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锁定</a:t>
              </a:r>
              <a:endParaRPr lang="zh-CN" altLang="en-US" sz="16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67" name="文本框 66"/>
          <p:cNvSpPr txBox="1"/>
          <p:nvPr/>
        </p:nvSpPr>
        <p:spPr>
          <a:xfrm>
            <a:off x="1322705" y="1830705"/>
            <a:ext cx="2023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Illustrious XL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212850" y="3747135"/>
            <a:ext cx="2023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LORA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1212850" y="4175125"/>
            <a:ext cx="2023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E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mbedding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212850" y="4580255"/>
            <a:ext cx="20231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ontrolNet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2" name="图片 71" descr="otrset_o22_00001_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005" y="1673860"/>
            <a:ext cx="1005205" cy="1471295"/>
          </a:xfrm>
          <a:prstGeom prst="rect">
            <a:avLst/>
          </a:prstGeom>
        </p:spPr>
      </p:pic>
      <p:pic>
        <p:nvPicPr>
          <p:cNvPr id="73" name="图片 72" descr="otrset_o23_00001_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5405" y="1673860"/>
            <a:ext cx="1005205" cy="1470660"/>
          </a:xfrm>
          <a:prstGeom prst="rect">
            <a:avLst/>
          </a:prstGeom>
        </p:spPr>
      </p:pic>
      <p:sp>
        <p:nvSpPr>
          <p:cNvPr id="74" name="文本框 73"/>
          <p:cNvSpPr txBox="1"/>
          <p:nvPr/>
        </p:nvSpPr>
        <p:spPr>
          <a:xfrm>
            <a:off x="6144895" y="3696335"/>
            <a:ext cx="17183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IPA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dapter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6415405" y="4667250"/>
            <a:ext cx="27546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MVAdapter/ControlNet</a:t>
            </a:r>
            <a:endParaRPr lang="en-US" altLang="zh-CN" sz="1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6" name="组合 75"/>
          <p:cNvGrpSpPr/>
          <p:nvPr/>
        </p:nvGrpSpPr>
        <p:grpSpPr>
          <a:xfrm>
            <a:off x="8971280" y="3562350"/>
            <a:ext cx="2023110" cy="1758950"/>
            <a:chOff x="1633" y="2820"/>
            <a:chExt cx="4440" cy="1456"/>
          </a:xfrm>
        </p:grpSpPr>
        <p:sp>
          <p:nvSpPr>
            <p:cNvPr id="77" name="圆角矩形 76"/>
            <p:cNvSpPr/>
            <p:nvPr/>
          </p:nvSpPr>
          <p:spPr>
            <a:xfrm>
              <a:off x="1633" y="2820"/>
              <a:ext cx="4440" cy="1300"/>
            </a:xfrm>
            <a:prstGeom prst="roundRect">
              <a:avLst>
                <a:gd name="adj" fmla="val 9704"/>
              </a:avLst>
            </a:prstGeom>
            <a:noFill/>
            <a:ln w="254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2411" y="3936"/>
              <a:ext cx="3074" cy="340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p>
              <a:pPr>
                <a:lnSpc>
                  <a:spcPct val="130000"/>
                </a:lnSpc>
              </a:pPr>
              <a:r>
                <a:rPr lang="en-US" altLang="zh-CN" sz="1600" b="1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3D</a:t>
              </a:r>
              <a:r>
                <a:rPr lang="zh-CN" altLang="en-US" sz="1600" b="1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模型</a:t>
              </a:r>
              <a:r>
                <a:rPr lang="zh-CN" altLang="en-US" sz="1600" b="1" i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生成</a:t>
              </a:r>
              <a:endParaRPr lang="zh-CN" altLang="en-US" sz="16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79" name="文本框 78"/>
          <p:cNvSpPr txBox="1"/>
          <p:nvPr/>
        </p:nvSpPr>
        <p:spPr>
          <a:xfrm>
            <a:off x="9169490" y="4169511"/>
            <a:ext cx="1713720" cy="41074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6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</a:t>
            </a:r>
            <a:r>
              <a:rPr lang="en-US" altLang="zh-CN" sz="16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unyuan2 MV</a:t>
            </a:r>
            <a:endParaRPr lang="en-US" altLang="zh-CN" sz="16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81" name="肘形连接符 80"/>
          <p:cNvCxnSpPr/>
          <p:nvPr/>
        </p:nvCxnSpPr>
        <p:spPr>
          <a:xfrm rot="5400000" flipV="1">
            <a:off x="2352675" y="2559050"/>
            <a:ext cx="1028065" cy="977265"/>
          </a:xfrm>
          <a:prstGeom prst="bentConnector3">
            <a:avLst>
              <a:gd name="adj1" fmla="val 50031"/>
            </a:avLst>
          </a:prstGeom>
          <a:ln w="22225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/>
          <p:nvPr/>
        </p:nvCxnSpPr>
        <p:spPr>
          <a:xfrm>
            <a:off x="5668010" y="3931285"/>
            <a:ext cx="302260" cy="0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 flipV="1">
            <a:off x="8797290" y="4841875"/>
            <a:ext cx="160655" cy="6985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873760" y="1065530"/>
            <a:ext cx="387731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家用</a:t>
            </a: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8GB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显存</a:t>
            </a: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3DAI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生成流程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搭建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36955" y="5743575"/>
            <a:ext cx="1012126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在完成模型制作后，使用</a:t>
            </a: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内多模态大模型（</a:t>
            </a: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QWEN GLM5.3FLASH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等）对模型的材质进行调参对齐参考图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效果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036955" y="5603875"/>
            <a:ext cx="9948545" cy="615315"/>
          </a:xfrm>
          <a:prstGeom prst="roundRect">
            <a:avLst>
              <a:gd name="adj" fmla="val 9704"/>
            </a:avLst>
          </a:prstGeom>
          <a:noFill/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/>
          <p:nvPr/>
        </p:nvCxnSpPr>
        <p:spPr>
          <a:xfrm>
            <a:off x="6017895" y="5201920"/>
            <a:ext cx="0" cy="369570"/>
          </a:xfrm>
          <a:prstGeom prst="straightConnector1">
            <a:avLst/>
          </a:prstGeom>
          <a:ln>
            <a:solidFill>
              <a:srgbClr val="24908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5673090" y="4837430"/>
            <a:ext cx="586740" cy="0"/>
          </a:xfrm>
          <a:prstGeom prst="straightConnector1">
            <a:avLst/>
          </a:prstGeom>
          <a:ln w="22225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19150" y="414655"/>
            <a:ext cx="69462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语音助手渲染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1897" r="7100"/>
          <a:stretch>
            <a:fillRect/>
          </a:stretch>
        </p:blipFill>
        <p:spPr>
          <a:xfrm>
            <a:off x="933450" y="1670050"/>
            <a:ext cx="5668645" cy="4012565"/>
          </a:xfrm>
          <a:prstGeom prst="rect">
            <a:avLst/>
          </a:prstGeom>
        </p:spPr>
      </p:pic>
      <p:sp>
        <p:nvSpPr>
          <p:cNvPr id="57" name="圆角矩形 56"/>
          <p:cNvSpPr/>
          <p:nvPr/>
        </p:nvSpPr>
        <p:spPr>
          <a:xfrm>
            <a:off x="6868795" y="3093085"/>
            <a:ext cx="4233545" cy="2526030"/>
          </a:xfrm>
          <a:prstGeom prst="roundRect">
            <a:avLst>
              <a:gd name="adj" fmla="val 4489"/>
            </a:avLst>
          </a:prstGeom>
          <a:noFill/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7011670" y="3307715"/>
            <a:ext cx="2680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内发光</a:t>
            </a:r>
            <a:r>
              <a:rPr lang="en-US" altLang="zh-CN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Kawase</a:t>
            </a:r>
            <a:r>
              <a:rPr lang="zh-CN" alt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模糊</a:t>
            </a:r>
            <a:endParaRPr lang="zh-CN" altLang="en-US" sz="14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11670" y="3729355"/>
            <a:ext cx="31216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外描边</a:t>
            </a:r>
            <a:r>
              <a:rPr lang="en-US" altLang="zh-CN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Sobel</a:t>
            </a:r>
            <a:r>
              <a:rPr lang="zh-CN" alt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描边</a:t>
            </a:r>
            <a:r>
              <a:rPr lang="en-US" altLang="zh-CN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+Kawase</a:t>
            </a:r>
            <a:r>
              <a:rPr lang="zh-CN" alt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模糊叠加</a:t>
            </a:r>
            <a:r>
              <a:rPr lang="en-US" altLang="zh-CN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Fxaa</a:t>
            </a:r>
            <a:r>
              <a:rPr lang="zh-CN" alt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抗锯齿</a:t>
            </a:r>
            <a:endParaRPr lang="zh-CN" altLang="en-US" sz="14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11670" y="4366260"/>
            <a:ext cx="38893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通道输出物体透明底</a:t>
            </a:r>
            <a:endParaRPr lang="zh-CN" altLang="en-US" sz="14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760" y="1065530"/>
            <a:ext cx="599503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生成形象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及跨应用衔接的上层透明底</a:t>
            </a: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SurfaceView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的萌宠抗锯齿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处理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11670" y="5026660"/>
            <a:ext cx="3889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ComfyUI</a:t>
            </a:r>
            <a:r>
              <a:rPr lang="zh-CN" alt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内生成萌宠助手多套道具（听音乐，麦克风，记笔记等）</a:t>
            </a:r>
            <a:endParaRPr lang="zh-CN" altLang="en-US" sz="14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10月19日(2)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14400" y="833755"/>
            <a:ext cx="10077450" cy="56686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19150" y="414655"/>
            <a:ext cx="32886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个人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练习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760" y="1065530"/>
            <a:ext cx="323469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2D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流体交互</a:t>
            </a: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蓝眼泪效果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还原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10月19日(9)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19150" y="414655"/>
            <a:ext cx="32886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个人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练习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760" y="1065530"/>
            <a:ext cx="323469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3D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体积云流体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交互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10月19日(7)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167640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19150" y="414655"/>
            <a:ext cx="32886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个人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练习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760" y="1065530"/>
            <a:ext cx="323469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Raymarching 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10月19日(8)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73100" y="2392680"/>
            <a:ext cx="8223250" cy="4625975"/>
          </a:xfrm>
          <a:prstGeom prst="rect">
            <a:avLst/>
          </a:prstGeom>
        </p:spPr>
      </p:pic>
      <p:pic>
        <p:nvPicPr>
          <p:cNvPr id="11" name="20240421_17372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12495" y="1639570"/>
            <a:ext cx="7746365" cy="9302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19150" y="414655"/>
            <a:ext cx="32886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个人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练习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760" y="1065530"/>
            <a:ext cx="323469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NPR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风格化渲染</a:t>
            </a:r>
            <a:r>
              <a:rPr 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775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 fullScrn="0">
              <p:cMediaNode>
                <p:cTn id="13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8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NEW_CREATE" val="1"/>
</p:tagLst>
</file>

<file path=ppt/tags/tag2.xml><?xml version="1.0" encoding="utf-8"?>
<p:tagLst xmlns:p="http://schemas.openxmlformats.org/presentationml/2006/main">
  <p:tag name="KSO_WM_DIAGRAM_VIRTUALLY_FRAME" val="{&quot;height&quot;:242.2,&quot;left&quot;:339.35,&quot;top&quot;:142.3,&quot;width&quot;:567.05}"/>
</p:tagLst>
</file>

<file path=ppt/tags/tag3.xml><?xml version="1.0" encoding="utf-8"?>
<p:tagLst xmlns:p="http://schemas.openxmlformats.org/presentationml/2006/main">
  <p:tag name="KSO_WM_DIAGRAM_VIRTUALLY_FRAME" val="{&quot;height&quot;:242.2,&quot;left&quot;:339.35,&quot;top&quot;:142.3,&quot;width&quot;:567.05}"/>
</p:tagLst>
</file>

<file path=ppt/tags/tag4.xml><?xml version="1.0" encoding="utf-8"?>
<p:tagLst xmlns:p="http://schemas.openxmlformats.org/presentationml/2006/main">
  <p:tag name="KSO_WM_DIAGRAM_VIRTUALLY_FRAME" val="{&quot;height&quot;:242.2,&quot;left&quot;:339.35,&quot;top&quot;:142.3,&quot;width&quot;:567.0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1664</Words>
  <Application>WPS 演示</Application>
  <PresentationFormat>宽屏</PresentationFormat>
  <Paragraphs>182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Wingdings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Alienware</dc:creator>
  <cp:lastModifiedBy>下下上上</cp:lastModifiedBy>
  <cp:revision>27</cp:revision>
  <dcterms:created xsi:type="dcterms:W3CDTF">2023-08-09T12:44:00Z</dcterms:created>
  <dcterms:modified xsi:type="dcterms:W3CDTF">2026-10-19T16:28:39Z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FBBC26EA0BB343B1A9CB7D8042E83CB0_13</vt:lpwstr>
  </property>
</Properties>
</file>